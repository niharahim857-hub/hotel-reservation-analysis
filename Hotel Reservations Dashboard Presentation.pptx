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5" d="100"/>
          <a:sy n="55" d="100"/>
        </p:scale>
        <p:origin x="1600" y="1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6BF149-5F7E-4B09-BDB3-18B41941313E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A40736E-AB84-4110-AAEF-0B0CCC816BE8}">
      <dgm:prSet/>
      <dgm:spPr/>
      <dgm:t>
        <a:bodyPr/>
        <a:lstStyle/>
        <a:p>
          <a:r>
            <a:rPr lang="en-US"/>
            <a:t>Total Reservations: 9,974</a:t>
          </a:r>
        </a:p>
      </dgm:t>
    </dgm:pt>
    <dgm:pt modelId="{F9C8BF29-BAE4-48C0-8680-718389C35D27}" type="parTrans" cxnId="{E0328690-9B73-4A86-9090-8696AEF09BDC}">
      <dgm:prSet/>
      <dgm:spPr/>
      <dgm:t>
        <a:bodyPr/>
        <a:lstStyle/>
        <a:p>
          <a:endParaRPr lang="en-US"/>
        </a:p>
      </dgm:t>
    </dgm:pt>
    <dgm:pt modelId="{6FB55D7F-4088-4DDE-97C6-CF6999FA72E8}" type="sibTrans" cxnId="{E0328690-9B73-4A86-9090-8696AEF09BDC}">
      <dgm:prSet/>
      <dgm:spPr/>
      <dgm:t>
        <a:bodyPr/>
        <a:lstStyle/>
        <a:p>
          <a:endParaRPr lang="en-US"/>
        </a:p>
      </dgm:t>
    </dgm:pt>
    <dgm:pt modelId="{CA05B0E1-1FAC-4FFD-9E8F-9D27067F076A}">
      <dgm:prSet/>
      <dgm:spPr/>
      <dgm:t>
        <a:bodyPr/>
        <a:lstStyle/>
        <a:p>
          <a:r>
            <a:rPr lang="en-US" dirty="0"/>
            <a:t>Total Amount (Revenue): 4.08M</a:t>
          </a:r>
        </a:p>
      </dgm:t>
    </dgm:pt>
    <dgm:pt modelId="{3B5BE7DC-EECB-4B68-A2C0-24CAE85331FC}" type="parTrans" cxnId="{1DA44EED-C256-45F5-A62F-464F5FB4CA35}">
      <dgm:prSet/>
      <dgm:spPr/>
      <dgm:t>
        <a:bodyPr/>
        <a:lstStyle/>
        <a:p>
          <a:endParaRPr lang="en-US"/>
        </a:p>
      </dgm:t>
    </dgm:pt>
    <dgm:pt modelId="{D785A299-4219-494C-B50D-E6A7C24AB98A}" type="sibTrans" cxnId="{1DA44EED-C256-45F5-A62F-464F5FB4CA35}">
      <dgm:prSet/>
      <dgm:spPr/>
      <dgm:t>
        <a:bodyPr/>
        <a:lstStyle/>
        <a:p>
          <a:endParaRPr lang="en-US"/>
        </a:p>
      </dgm:t>
    </dgm:pt>
    <dgm:pt modelId="{7841D893-04E0-4D7B-8B28-34BD8955D070}">
      <dgm:prSet/>
      <dgm:spPr/>
      <dgm:t>
        <a:bodyPr/>
        <a:lstStyle/>
        <a:p>
          <a:r>
            <a:rPr lang="en-US"/>
            <a:t>Total Guests: 34,761</a:t>
          </a:r>
        </a:p>
      </dgm:t>
    </dgm:pt>
    <dgm:pt modelId="{CF5C7483-0A4E-4A7F-A77F-7039DBFF84FF}" type="parTrans" cxnId="{DFA13FB6-22F0-4A53-B4A2-E522CF43CE6E}">
      <dgm:prSet/>
      <dgm:spPr/>
      <dgm:t>
        <a:bodyPr/>
        <a:lstStyle/>
        <a:p>
          <a:endParaRPr lang="en-US"/>
        </a:p>
      </dgm:t>
    </dgm:pt>
    <dgm:pt modelId="{62243A24-ABA6-4DDA-865B-5BF2E0C8DE98}" type="sibTrans" cxnId="{DFA13FB6-22F0-4A53-B4A2-E522CF43CE6E}">
      <dgm:prSet/>
      <dgm:spPr/>
      <dgm:t>
        <a:bodyPr/>
        <a:lstStyle/>
        <a:p>
          <a:endParaRPr lang="en-US"/>
        </a:p>
      </dgm:t>
    </dgm:pt>
    <dgm:pt modelId="{B1DB0444-408A-47CC-B817-03C664657CEE}">
      <dgm:prSet/>
      <dgm:spPr/>
      <dgm:t>
        <a:bodyPr/>
        <a:lstStyle/>
        <a:p>
          <a:r>
            <a:rPr lang="en-US"/>
            <a:t>These KPIs provide a quick overview of hotel performance.</a:t>
          </a:r>
        </a:p>
      </dgm:t>
    </dgm:pt>
    <dgm:pt modelId="{9599D898-2DFB-44FF-A0C9-92CBAA95F871}" type="parTrans" cxnId="{DCF5C471-B04C-4B79-A20F-EBD21C8CD37C}">
      <dgm:prSet/>
      <dgm:spPr/>
      <dgm:t>
        <a:bodyPr/>
        <a:lstStyle/>
        <a:p>
          <a:endParaRPr lang="en-US"/>
        </a:p>
      </dgm:t>
    </dgm:pt>
    <dgm:pt modelId="{A1761CEB-6A0D-4510-988F-6BBACEAC381C}" type="sibTrans" cxnId="{DCF5C471-B04C-4B79-A20F-EBD21C8CD37C}">
      <dgm:prSet/>
      <dgm:spPr/>
      <dgm:t>
        <a:bodyPr/>
        <a:lstStyle/>
        <a:p>
          <a:endParaRPr lang="en-US"/>
        </a:p>
      </dgm:t>
    </dgm:pt>
    <dgm:pt modelId="{D1B8B011-6D70-4882-86D6-F9859C53FF9B}" type="pres">
      <dgm:prSet presAssocID="{C36BF149-5F7E-4B09-BDB3-18B41941313E}" presName="diagram" presStyleCnt="0">
        <dgm:presLayoutVars>
          <dgm:dir/>
          <dgm:resizeHandles val="exact"/>
        </dgm:presLayoutVars>
      </dgm:prSet>
      <dgm:spPr/>
    </dgm:pt>
    <dgm:pt modelId="{F16B90D9-DF40-4B98-8D15-0D0F8B8678FB}" type="pres">
      <dgm:prSet presAssocID="{2A40736E-AB84-4110-AAEF-0B0CCC816BE8}" presName="node" presStyleLbl="node1" presStyleIdx="0" presStyleCnt="4">
        <dgm:presLayoutVars>
          <dgm:bulletEnabled val="1"/>
        </dgm:presLayoutVars>
      </dgm:prSet>
      <dgm:spPr/>
    </dgm:pt>
    <dgm:pt modelId="{AD5DDB17-C662-440E-BCB5-F296F6682DFA}" type="pres">
      <dgm:prSet presAssocID="{6FB55D7F-4088-4DDE-97C6-CF6999FA72E8}" presName="sibTrans" presStyleCnt="0"/>
      <dgm:spPr/>
    </dgm:pt>
    <dgm:pt modelId="{B2EFCD5C-20CA-45B8-ACEA-E18913CCFDD5}" type="pres">
      <dgm:prSet presAssocID="{CA05B0E1-1FAC-4FFD-9E8F-9D27067F076A}" presName="node" presStyleLbl="node1" presStyleIdx="1" presStyleCnt="4">
        <dgm:presLayoutVars>
          <dgm:bulletEnabled val="1"/>
        </dgm:presLayoutVars>
      </dgm:prSet>
      <dgm:spPr/>
    </dgm:pt>
    <dgm:pt modelId="{CCDB075B-D607-4F27-9C72-AAAAFB897D14}" type="pres">
      <dgm:prSet presAssocID="{D785A299-4219-494C-B50D-E6A7C24AB98A}" presName="sibTrans" presStyleCnt="0"/>
      <dgm:spPr/>
    </dgm:pt>
    <dgm:pt modelId="{31258207-97CE-4B54-A0EA-FB426C97CA2F}" type="pres">
      <dgm:prSet presAssocID="{7841D893-04E0-4D7B-8B28-34BD8955D070}" presName="node" presStyleLbl="node1" presStyleIdx="2" presStyleCnt="4">
        <dgm:presLayoutVars>
          <dgm:bulletEnabled val="1"/>
        </dgm:presLayoutVars>
      </dgm:prSet>
      <dgm:spPr/>
    </dgm:pt>
    <dgm:pt modelId="{8EED92AD-A29C-4A76-8E30-73EB3F748ABF}" type="pres">
      <dgm:prSet presAssocID="{62243A24-ABA6-4DDA-865B-5BF2E0C8DE98}" presName="sibTrans" presStyleCnt="0"/>
      <dgm:spPr/>
    </dgm:pt>
    <dgm:pt modelId="{FF191CC1-374A-4C7B-AADF-F49FDE4D8643}" type="pres">
      <dgm:prSet presAssocID="{B1DB0444-408A-47CC-B817-03C664657CEE}" presName="node" presStyleLbl="node1" presStyleIdx="3" presStyleCnt="4">
        <dgm:presLayoutVars>
          <dgm:bulletEnabled val="1"/>
        </dgm:presLayoutVars>
      </dgm:prSet>
      <dgm:spPr/>
    </dgm:pt>
  </dgm:ptLst>
  <dgm:cxnLst>
    <dgm:cxn modelId="{44DF4F04-3A04-453E-9BE9-8A96A979B76B}" type="presOf" srcId="{2A40736E-AB84-4110-AAEF-0B0CCC816BE8}" destId="{F16B90D9-DF40-4B98-8D15-0D0F8B8678FB}" srcOrd="0" destOrd="0" presId="urn:microsoft.com/office/officeart/2005/8/layout/default"/>
    <dgm:cxn modelId="{251F0508-2E7E-46D7-AF65-FE2B733B7D12}" type="presOf" srcId="{C36BF149-5F7E-4B09-BDB3-18B41941313E}" destId="{D1B8B011-6D70-4882-86D6-F9859C53FF9B}" srcOrd="0" destOrd="0" presId="urn:microsoft.com/office/officeart/2005/8/layout/default"/>
    <dgm:cxn modelId="{DB548343-E958-49A4-8FA0-DCA1CC017838}" type="presOf" srcId="{CA05B0E1-1FAC-4FFD-9E8F-9D27067F076A}" destId="{B2EFCD5C-20CA-45B8-ACEA-E18913CCFDD5}" srcOrd="0" destOrd="0" presId="urn:microsoft.com/office/officeart/2005/8/layout/default"/>
    <dgm:cxn modelId="{DCF5C471-B04C-4B79-A20F-EBD21C8CD37C}" srcId="{C36BF149-5F7E-4B09-BDB3-18B41941313E}" destId="{B1DB0444-408A-47CC-B817-03C664657CEE}" srcOrd="3" destOrd="0" parTransId="{9599D898-2DFB-44FF-A0C9-92CBAA95F871}" sibTransId="{A1761CEB-6A0D-4510-988F-6BBACEAC381C}"/>
    <dgm:cxn modelId="{E0328690-9B73-4A86-9090-8696AEF09BDC}" srcId="{C36BF149-5F7E-4B09-BDB3-18B41941313E}" destId="{2A40736E-AB84-4110-AAEF-0B0CCC816BE8}" srcOrd="0" destOrd="0" parTransId="{F9C8BF29-BAE4-48C0-8680-718389C35D27}" sibTransId="{6FB55D7F-4088-4DDE-97C6-CF6999FA72E8}"/>
    <dgm:cxn modelId="{DFA13FB6-22F0-4A53-B4A2-E522CF43CE6E}" srcId="{C36BF149-5F7E-4B09-BDB3-18B41941313E}" destId="{7841D893-04E0-4D7B-8B28-34BD8955D070}" srcOrd="2" destOrd="0" parTransId="{CF5C7483-0A4E-4A7F-A77F-7039DBFF84FF}" sibTransId="{62243A24-ABA6-4DDA-865B-5BF2E0C8DE98}"/>
    <dgm:cxn modelId="{231DF2C7-7DAE-4A4E-894E-E41D3BA80127}" type="presOf" srcId="{7841D893-04E0-4D7B-8B28-34BD8955D070}" destId="{31258207-97CE-4B54-A0EA-FB426C97CA2F}" srcOrd="0" destOrd="0" presId="urn:microsoft.com/office/officeart/2005/8/layout/default"/>
    <dgm:cxn modelId="{1DA44EED-C256-45F5-A62F-464F5FB4CA35}" srcId="{C36BF149-5F7E-4B09-BDB3-18B41941313E}" destId="{CA05B0E1-1FAC-4FFD-9E8F-9D27067F076A}" srcOrd="1" destOrd="0" parTransId="{3B5BE7DC-EECB-4B68-A2C0-24CAE85331FC}" sibTransId="{D785A299-4219-494C-B50D-E6A7C24AB98A}"/>
    <dgm:cxn modelId="{6F20DBF1-D371-4403-ADEA-DF6C4C852468}" type="presOf" srcId="{B1DB0444-408A-47CC-B817-03C664657CEE}" destId="{FF191CC1-374A-4C7B-AADF-F49FDE4D8643}" srcOrd="0" destOrd="0" presId="urn:microsoft.com/office/officeart/2005/8/layout/default"/>
    <dgm:cxn modelId="{50BA0737-918A-445E-A7F9-F75F9E068B4D}" type="presParOf" srcId="{D1B8B011-6D70-4882-86D6-F9859C53FF9B}" destId="{F16B90D9-DF40-4B98-8D15-0D0F8B8678FB}" srcOrd="0" destOrd="0" presId="urn:microsoft.com/office/officeart/2005/8/layout/default"/>
    <dgm:cxn modelId="{1F67CF7C-416B-4453-B84C-2D43C796FF5F}" type="presParOf" srcId="{D1B8B011-6D70-4882-86D6-F9859C53FF9B}" destId="{AD5DDB17-C662-440E-BCB5-F296F6682DFA}" srcOrd="1" destOrd="0" presId="urn:microsoft.com/office/officeart/2005/8/layout/default"/>
    <dgm:cxn modelId="{EB941225-59F8-4C1E-A333-24C6E4F84E0B}" type="presParOf" srcId="{D1B8B011-6D70-4882-86D6-F9859C53FF9B}" destId="{B2EFCD5C-20CA-45B8-ACEA-E18913CCFDD5}" srcOrd="2" destOrd="0" presId="urn:microsoft.com/office/officeart/2005/8/layout/default"/>
    <dgm:cxn modelId="{3967457F-F7A4-45DB-9A01-520ACD15D2C6}" type="presParOf" srcId="{D1B8B011-6D70-4882-86D6-F9859C53FF9B}" destId="{CCDB075B-D607-4F27-9C72-AAAAFB897D14}" srcOrd="3" destOrd="0" presId="urn:microsoft.com/office/officeart/2005/8/layout/default"/>
    <dgm:cxn modelId="{0F1968B6-5C3A-46F4-A3C7-E91FF859C55F}" type="presParOf" srcId="{D1B8B011-6D70-4882-86D6-F9859C53FF9B}" destId="{31258207-97CE-4B54-A0EA-FB426C97CA2F}" srcOrd="4" destOrd="0" presId="urn:microsoft.com/office/officeart/2005/8/layout/default"/>
    <dgm:cxn modelId="{D06BFD78-446F-422C-BC4A-ACC45D1C4130}" type="presParOf" srcId="{D1B8B011-6D70-4882-86D6-F9859C53FF9B}" destId="{8EED92AD-A29C-4A76-8E30-73EB3F748ABF}" srcOrd="5" destOrd="0" presId="urn:microsoft.com/office/officeart/2005/8/layout/default"/>
    <dgm:cxn modelId="{D5EE57C0-A19C-428C-B931-3D4C377093D1}" type="presParOf" srcId="{D1B8B011-6D70-4882-86D6-F9859C53FF9B}" destId="{FF191CC1-374A-4C7B-AADF-F49FDE4D8643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3575947-1C6E-405B-B1D4-EEE9491A68BB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DFDB4D2A-2885-4F74-8CB0-93AC2A1D920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Line chart shows monthly booking count.</a:t>
          </a:r>
        </a:p>
      </dgm:t>
    </dgm:pt>
    <dgm:pt modelId="{3809E1BA-C0D0-4713-9645-50927AC28D6E}" type="parTrans" cxnId="{06D95604-54F8-4B4A-B37A-7CBD99381F85}">
      <dgm:prSet/>
      <dgm:spPr/>
      <dgm:t>
        <a:bodyPr/>
        <a:lstStyle/>
        <a:p>
          <a:endParaRPr lang="en-US"/>
        </a:p>
      </dgm:t>
    </dgm:pt>
    <dgm:pt modelId="{CCC6F16D-4CC7-4552-AFCD-711CCEDB8500}" type="sibTrans" cxnId="{06D95604-54F8-4B4A-B37A-7CBD99381F8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E9F50C6-3204-45EE-B7B7-0FDB2CDE19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Bookings remain consistent throughout the year.</a:t>
          </a:r>
        </a:p>
      </dgm:t>
    </dgm:pt>
    <dgm:pt modelId="{59A573D7-05D7-4D40-9DEA-77EBA7DE410A}" type="parTrans" cxnId="{8C2E12D5-35A8-4AA9-8DB5-CB6E6CFA916D}">
      <dgm:prSet/>
      <dgm:spPr/>
      <dgm:t>
        <a:bodyPr/>
        <a:lstStyle/>
        <a:p>
          <a:endParaRPr lang="en-US"/>
        </a:p>
      </dgm:t>
    </dgm:pt>
    <dgm:pt modelId="{03749873-491D-4FE7-80A8-63E107D9A6E2}" type="sibTrans" cxnId="{8C2E12D5-35A8-4AA9-8DB5-CB6E6CFA916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E965380-4002-4FF5-A169-487A3D2E59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Slight peaks observed in mid and end months.</a:t>
          </a:r>
        </a:p>
      </dgm:t>
    </dgm:pt>
    <dgm:pt modelId="{1C10A779-A681-4251-BBA6-C7C46FD8FF8D}" type="parTrans" cxnId="{76EA3717-A3C9-4028-B9A1-7FC8495B0737}">
      <dgm:prSet/>
      <dgm:spPr/>
      <dgm:t>
        <a:bodyPr/>
        <a:lstStyle/>
        <a:p>
          <a:endParaRPr lang="en-US"/>
        </a:p>
      </dgm:t>
    </dgm:pt>
    <dgm:pt modelId="{73166388-F8F5-4871-83E1-A3FA06D22378}" type="sibTrans" cxnId="{76EA3717-A3C9-4028-B9A1-7FC8495B073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12F17E2-7977-4F22-9D15-1268EB867AA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Helps identify seasonal demand patterns.</a:t>
          </a:r>
        </a:p>
      </dgm:t>
    </dgm:pt>
    <dgm:pt modelId="{AAF4F532-C1CD-4F3D-BC57-DBB14D3DF52E}" type="parTrans" cxnId="{2E5532E9-3D0B-4CBD-8F54-F3C0E4808B39}">
      <dgm:prSet/>
      <dgm:spPr/>
      <dgm:t>
        <a:bodyPr/>
        <a:lstStyle/>
        <a:p>
          <a:endParaRPr lang="en-US"/>
        </a:p>
      </dgm:t>
    </dgm:pt>
    <dgm:pt modelId="{58164D3A-CC0B-4D7B-96A2-9009B13E9C24}" type="sibTrans" cxnId="{2E5532E9-3D0B-4CBD-8F54-F3C0E4808B39}">
      <dgm:prSet/>
      <dgm:spPr/>
      <dgm:t>
        <a:bodyPr/>
        <a:lstStyle/>
        <a:p>
          <a:endParaRPr lang="en-US"/>
        </a:p>
      </dgm:t>
    </dgm:pt>
    <dgm:pt modelId="{034C092B-3874-4BF2-9415-89C52FBAE7EE}" type="pres">
      <dgm:prSet presAssocID="{73575947-1C6E-405B-B1D4-EEE9491A68BB}" presName="root" presStyleCnt="0">
        <dgm:presLayoutVars>
          <dgm:dir/>
          <dgm:resizeHandles val="exact"/>
        </dgm:presLayoutVars>
      </dgm:prSet>
      <dgm:spPr/>
    </dgm:pt>
    <dgm:pt modelId="{6F23FDC9-927C-4264-AC9C-ED368F8087F2}" type="pres">
      <dgm:prSet presAssocID="{73575947-1C6E-405B-B1D4-EEE9491A68BB}" presName="container" presStyleCnt="0">
        <dgm:presLayoutVars>
          <dgm:dir/>
          <dgm:resizeHandles val="exact"/>
        </dgm:presLayoutVars>
      </dgm:prSet>
      <dgm:spPr/>
    </dgm:pt>
    <dgm:pt modelId="{5382E87E-D5C0-4382-93DE-825E64C9E789}" type="pres">
      <dgm:prSet presAssocID="{DFDB4D2A-2885-4F74-8CB0-93AC2A1D920A}" presName="compNode" presStyleCnt="0"/>
      <dgm:spPr/>
    </dgm:pt>
    <dgm:pt modelId="{4B79C88D-766A-4EB4-8D14-F688A2A8F588}" type="pres">
      <dgm:prSet presAssocID="{DFDB4D2A-2885-4F74-8CB0-93AC2A1D920A}" presName="iconBgRect" presStyleLbl="bgShp" presStyleIdx="0" presStyleCnt="4"/>
      <dgm:spPr/>
    </dgm:pt>
    <dgm:pt modelId="{B7DE639F-3C00-41AE-8915-B161E1576453}" type="pres">
      <dgm:prSet presAssocID="{DFDB4D2A-2885-4F74-8CB0-93AC2A1D920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 Envelope"/>
        </a:ext>
      </dgm:extLst>
    </dgm:pt>
    <dgm:pt modelId="{0C2BB512-24F4-485B-9EF2-D30BDB72FAFE}" type="pres">
      <dgm:prSet presAssocID="{DFDB4D2A-2885-4F74-8CB0-93AC2A1D920A}" presName="spaceRect" presStyleCnt="0"/>
      <dgm:spPr/>
    </dgm:pt>
    <dgm:pt modelId="{A5159B01-2F57-404D-96E8-CE0DAC972F59}" type="pres">
      <dgm:prSet presAssocID="{DFDB4D2A-2885-4F74-8CB0-93AC2A1D920A}" presName="textRect" presStyleLbl="revTx" presStyleIdx="0" presStyleCnt="4">
        <dgm:presLayoutVars>
          <dgm:chMax val="1"/>
          <dgm:chPref val="1"/>
        </dgm:presLayoutVars>
      </dgm:prSet>
      <dgm:spPr/>
    </dgm:pt>
    <dgm:pt modelId="{E0B47012-4CA6-419C-8EF2-07FD0D6DD598}" type="pres">
      <dgm:prSet presAssocID="{CCC6F16D-4CC7-4552-AFCD-711CCEDB8500}" presName="sibTrans" presStyleLbl="sibTrans2D1" presStyleIdx="0" presStyleCnt="0"/>
      <dgm:spPr/>
    </dgm:pt>
    <dgm:pt modelId="{E29C3E53-05C5-4904-949A-ECC2A4CB8B08}" type="pres">
      <dgm:prSet presAssocID="{DE9F50C6-3204-45EE-B7B7-0FDB2CDE19EF}" presName="compNode" presStyleCnt="0"/>
      <dgm:spPr/>
    </dgm:pt>
    <dgm:pt modelId="{1BED9A7F-363D-4894-8EBB-CAE2153A558B}" type="pres">
      <dgm:prSet presAssocID="{DE9F50C6-3204-45EE-B7B7-0FDB2CDE19EF}" presName="iconBgRect" presStyleLbl="bgShp" presStyleIdx="1" presStyleCnt="4"/>
      <dgm:spPr/>
    </dgm:pt>
    <dgm:pt modelId="{B66215B5-6F93-4915-A27C-D343C5E66611}" type="pres">
      <dgm:prSet presAssocID="{DE9F50C6-3204-45EE-B7B7-0FDB2CDE19E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Yuan"/>
        </a:ext>
      </dgm:extLst>
    </dgm:pt>
    <dgm:pt modelId="{7287853D-386A-4BC8-B767-DB2417CCF9F3}" type="pres">
      <dgm:prSet presAssocID="{DE9F50C6-3204-45EE-B7B7-0FDB2CDE19EF}" presName="spaceRect" presStyleCnt="0"/>
      <dgm:spPr/>
    </dgm:pt>
    <dgm:pt modelId="{7C0D4E56-2492-4586-B178-A45CC40A8C78}" type="pres">
      <dgm:prSet presAssocID="{DE9F50C6-3204-45EE-B7B7-0FDB2CDE19EF}" presName="textRect" presStyleLbl="revTx" presStyleIdx="1" presStyleCnt="4">
        <dgm:presLayoutVars>
          <dgm:chMax val="1"/>
          <dgm:chPref val="1"/>
        </dgm:presLayoutVars>
      </dgm:prSet>
      <dgm:spPr/>
    </dgm:pt>
    <dgm:pt modelId="{83569BDA-9361-4CE3-80CF-09ED279137E0}" type="pres">
      <dgm:prSet presAssocID="{03749873-491D-4FE7-80A8-63E107D9A6E2}" presName="sibTrans" presStyleLbl="sibTrans2D1" presStyleIdx="0" presStyleCnt="0"/>
      <dgm:spPr/>
    </dgm:pt>
    <dgm:pt modelId="{7D01E238-2FEF-437F-8A3D-32221654F2A2}" type="pres">
      <dgm:prSet presAssocID="{DE965380-4002-4FF5-A169-487A3D2E5970}" presName="compNode" presStyleCnt="0"/>
      <dgm:spPr/>
    </dgm:pt>
    <dgm:pt modelId="{5E90D182-173F-4D03-8BAE-98F7B49890F6}" type="pres">
      <dgm:prSet presAssocID="{DE965380-4002-4FF5-A169-487A3D2E5970}" presName="iconBgRect" presStyleLbl="bgShp" presStyleIdx="2" presStyleCnt="4"/>
      <dgm:spPr/>
    </dgm:pt>
    <dgm:pt modelId="{F39372C2-55AA-4461-894A-4DE10815BCFD}" type="pres">
      <dgm:prSet presAssocID="{DE965380-4002-4FF5-A169-487A3D2E597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n"/>
        </a:ext>
      </dgm:extLst>
    </dgm:pt>
    <dgm:pt modelId="{F775227E-14E2-41A7-B32A-8C5144F3CE78}" type="pres">
      <dgm:prSet presAssocID="{DE965380-4002-4FF5-A169-487A3D2E5970}" presName="spaceRect" presStyleCnt="0"/>
      <dgm:spPr/>
    </dgm:pt>
    <dgm:pt modelId="{AC9CE43E-2CE7-4600-8E87-AEDB9D9DEB27}" type="pres">
      <dgm:prSet presAssocID="{DE965380-4002-4FF5-A169-487A3D2E5970}" presName="textRect" presStyleLbl="revTx" presStyleIdx="2" presStyleCnt="4">
        <dgm:presLayoutVars>
          <dgm:chMax val="1"/>
          <dgm:chPref val="1"/>
        </dgm:presLayoutVars>
      </dgm:prSet>
      <dgm:spPr/>
    </dgm:pt>
    <dgm:pt modelId="{429943DB-81C7-4F75-9C99-E7F5ED352141}" type="pres">
      <dgm:prSet presAssocID="{73166388-F8F5-4871-83E1-A3FA06D22378}" presName="sibTrans" presStyleLbl="sibTrans2D1" presStyleIdx="0" presStyleCnt="0"/>
      <dgm:spPr/>
    </dgm:pt>
    <dgm:pt modelId="{F2800A31-40D1-4B88-AF17-DF2AA5B1105D}" type="pres">
      <dgm:prSet presAssocID="{512F17E2-7977-4F22-9D15-1268EB867AAF}" presName="compNode" presStyleCnt="0"/>
      <dgm:spPr/>
    </dgm:pt>
    <dgm:pt modelId="{E2D0FBEF-0CF4-4F01-9971-C8889E6FBB96}" type="pres">
      <dgm:prSet presAssocID="{512F17E2-7977-4F22-9D15-1268EB867AAF}" presName="iconBgRect" presStyleLbl="bgShp" presStyleIdx="3" presStyleCnt="4"/>
      <dgm:spPr/>
    </dgm:pt>
    <dgm:pt modelId="{6072CFC5-512B-4EDA-80FC-D0DA877A5CF2}" type="pres">
      <dgm:prSet presAssocID="{512F17E2-7977-4F22-9D15-1268EB867AA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tial Sun"/>
        </a:ext>
      </dgm:extLst>
    </dgm:pt>
    <dgm:pt modelId="{3E327502-F499-4A06-9498-6D19E6D9E3DE}" type="pres">
      <dgm:prSet presAssocID="{512F17E2-7977-4F22-9D15-1268EB867AAF}" presName="spaceRect" presStyleCnt="0"/>
      <dgm:spPr/>
    </dgm:pt>
    <dgm:pt modelId="{C934AA04-B112-4A19-A6F4-3F0E7A247A17}" type="pres">
      <dgm:prSet presAssocID="{512F17E2-7977-4F22-9D15-1268EB867AA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6D95604-54F8-4B4A-B37A-7CBD99381F85}" srcId="{73575947-1C6E-405B-B1D4-EEE9491A68BB}" destId="{DFDB4D2A-2885-4F74-8CB0-93AC2A1D920A}" srcOrd="0" destOrd="0" parTransId="{3809E1BA-C0D0-4713-9645-50927AC28D6E}" sibTransId="{CCC6F16D-4CC7-4552-AFCD-711CCEDB8500}"/>
    <dgm:cxn modelId="{880C9413-10F2-469C-8A0A-8320544C26BD}" type="presOf" srcId="{DFDB4D2A-2885-4F74-8CB0-93AC2A1D920A}" destId="{A5159B01-2F57-404D-96E8-CE0DAC972F59}" srcOrd="0" destOrd="0" presId="urn:microsoft.com/office/officeart/2018/2/layout/IconCircleList"/>
    <dgm:cxn modelId="{76EA3717-A3C9-4028-B9A1-7FC8495B0737}" srcId="{73575947-1C6E-405B-B1D4-EEE9491A68BB}" destId="{DE965380-4002-4FF5-A169-487A3D2E5970}" srcOrd="2" destOrd="0" parTransId="{1C10A779-A681-4251-BBA6-C7C46FD8FF8D}" sibTransId="{73166388-F8F5-4871-83E1-A3FA06D22378}"/>
    <dgm:cxn modelId="{C653CE49-69DE-4110-8A89-0DAC12549CDB}" type="presOf" srcId="{03749873-491D-4FE7-80A8-63E107D9A6E2}" destId="{83569BDA-9361-4CE3-80CF-09ED279137E0}" srcOrd="0" destOrd="0" presId="urn:microsoft.com/office/officeart/2018/2/layout/IconCircleList"/>
    <dgm:cxn modelId="{43763851-7067-40C6-A14A-43F6DB8E9A4E}" type="presOf" srcId="{512F17E2-7977-4F22-9D15-1268EB867AAF}" destId="{C934AA04-B112-4A19-A6F4-3F0E7A247A17}" srcOrd="0" destOrd="0" presId="urn:microsoft.com/office/officeart/2018/2/layout/IconCircleList"/>
    <dgm:cxn modelId="{F20CC858-D9B5-4842-9924-EAC406C5B4E2}" type="presOf" srcId="{DE965380-4002-4FF5-A169-487A3D2E5970}" destId="{AC9CE43E-2CE7-4600-8E87-AEDB9D9DEB27}" srcOrd="0" destOrd="0" presId="urn:microsoft.com/office/officeart/2018/2/layout/IconCircleList"/>
    <dgm:cxn modelId="{2A1FEF58-5CD0-49A2-B9DA-983F88E0AB7F}" type="presOf" srcId="{CCC6F16D-4CC7-4552-AFCD-711CCEDB8500}" destId="{E0B47012-4CA6-419C-8EF2-07FD0D6DD598}" srcOrd="0" destOrd="0" presId="urn:microsoft.com/office/officeart/2018/2/layout/IconCircleList"/>
    <dgm:cxn modelId="{D6FC9697-1265-4120-8FB0-8737A6A6D5ED}" type="presOf" srcId="{DE9F50C6-3204-45EE-B7B7-0FDB2CDE19EF}" destId="{7C0D4E56-2492-4586-B178-A45CC40A8C78}" srcOrd="0" destOrd="0" presId="urn:microsoft.com/office/officeart/2018/2/layout/IconCircleList"/>
    <dgm:cxn modelId="{6709A3A7-3923-4F90-9485-B7D1C0907160}" type="presOf" srcId="{73575947-1C6E-405B-B1D4-EEE9491A68BB}" destId="{034C092B-3874-4BF2-9415-89C52FBAE7EE}" srcOrd="0" destOrd="0" presId="urn:microsoft.com/office/officeart/2018/2/layout/IconCircleList"/>
    <dgm:cxn modelId="{8C2E12D5-35A8-4AA9-8DB5-CB6E6CFA916D}" srcId="{73575947-1C6E-405B-B1D4-EEE9491A68BB}" destId="{DE9F50C6-3204-45EE-B7B7-0FDB2CDE19EF}" srcOrd="1" destOrd="0" parTransId="{59A573D7-05D7-4D40-9DEA-77EBA7DE410A}" sibTransId="{03749873-491D-4FE7-80A8-63E107D9A6E2}"/>
    <dgm:cxn modelId="{2E5532E9-3D0B-4CBD-8F54-F3C0E4808B39}" srcId="{73575947-1C6E-405B-B1D4-EEE9491A68BB}" destId="{512F17E2-7977-4F22-9D15-1268EB867AAF}" srcOrd="3" destOrd="0" parTransId="{AAF4F532-C1CD-4F3D-BC57-DBB14D3DF52E}" sibTransId="{58164D3A-CC0B-4D7B-96A2-9009B13E9C24}"/>
    <dgm:cxn modelId="{2069A0EE-F422-45C5-A3CA-554696665D63}" type="presOf" srcId="{73166388-F8F5-4871-83E1-A3FA06D22378}" destId="{429943DB-81C7-4F75-9C99-E7F5ED352141}" srcOrd="0" destOrd="0" presId="urn:microsoft.com/office/officeart/2018/2/layout/IconCircleList"/>
    <dgm:cxn modelId="{EF556391-C0F4-4C84-A9E8-13E9E3CE1EAA}" type="presParOf" srcId="{034C092B-3874-4BF2-9415-89C52FBAE7EE}" destId="{6F23FDC9-927C-4264-AC9C-ED368F8087F2}" srcOrd="0" destOrd="0" presId="urn:microsoft.com/office/officeart/2018/2/layout/IconCircleList"/>
    <dgm:cxn modelId="{A415166E-845F-46C7-8F00-C15F53A24993}" type="presParOf" srcId="{6F23FDC9-927C-4264-AC9C-ED368F8087F2}" destId="{5382E87E-D5C0-4382-93DE-825E64C9E789}" srcOrd="0" destOrd="0" presId="urn:microsoft.com/office/officeart/2018/2/layout/IconCircleList"/>
    <dgm:cxn modelId="{C608E24C-1D68-4123-9F24-95151A33FFD4}" type="presParOf" srcId="{5382E87E-D5C0-4382-93DE-825E64C9E789}" destId="{4B79C88D-766A-4EB4-8D14-F688A2A8F588}" srcOrd="0" destOrd="0" presId="urn:microsoft.com/office/officeart/2018/2/layout/IconCircleList"/>
    <dgm:cxn modelId="{0BB20F6D-B735-44A9-9DCA-2A023D36EEBD}" type="presParOf" srcId="{5382E87E-D5C0-4382-93DE-825E64C9E789}" destId="{B7DE639F-3C00-41AE-8915-B161E1576453}" srcOrd="1" destOrd="0" presId="urn:microsoft.com/office/officeart/2018/2/layout/IconCircleList"/>
    <dgm:cxn modelId="{8F2242B4-3306-4FD6-ADC0-48425BA8B26A}" type="presParOf" srcId="{5382E87E-D5C0-4382-93DE-825E64C9E789}" destId="{0C2BB512-24F4-485B-9EF2-D30BDB72FAFE}" srcOrd="2" destOrd="0" presId="urn:microsoft.com/office/officeart/2018/2/layout/IconCircleList"/>
    <dgm:cxn modelId="{49714C85-0C10-48EB-9718-7EC21986B445}" type="presParOf" srcId="{5382E87E-D5C0-4382-93DE-825E64C9E789}" destId="{A5159B01-2F57-404D-96E8-CE0DAC972F59}" srcOrd="3" destOrd="0" presId="urn:microsoft.com/office/officeart/2018/2/layout/IconCircleList"/>
    <dgm:cxn modelId="{96A0FD85-58F1-4CF4-B1CC-9F706FDB9D3C}" type="presParOf" srcId="{6F23FDC9-927C-4264-AC9C-ED368F8087F2}" destId="{E0B47012-4CA6-419C-8EF2-07FD0D6DD598}" srcOrd="1" destOrd="0" presId="urn:microsoft.com/office/officeart/2018/2/layout/IconCircleList"/>
    <dgm:cxn modelId="{04C1CB8B-A55A-45BF-A7ED-4D5E22D8055C}" type="presParOf" srcId="{6F23FDC9-927C-4264-AC9C-ED368F8087F2}" destId="{E29C3E53-05C5-4904-949A-ECC2A4CB8B08}" srcOrd="2" destOrd="0" presId="urn:microsoft.com/office/officeart/2018/2/layout/IconCircleList"/>
    <dgm:cxn modelId="{90997615-E74D-4B22-99E8-DA50647E5522}" type="presParOf" srcId="{E29C3E53-05C5-4904-949A-ECC2A4CB8B08}" destId="{1BED9A7F-363D-4894-8EBB-CAE2153A558B}" srcOrd="0" destOrd="0" presId="urn:microsoft.com/office/officeart/2018/2/layout/IconCircleList"/>
    <dgm:cxn modelId="{94AFC88A-7441-4AFD-93AD-A3AC6DA93881}" type="presParOf" srcId="{E29C3E53-05C5-4904-949A-ECC2A4CB8B08}" destId="{B66215B5-6F93-4915-A27C-D343C5E66611}" srcOrd="1" destOrd="0" presId="urn:microsoft.com/office/officeart/2018/2/layout/IconCircleList"/>
    <dgm:cxn modelId="{4CD2D785-55E7-425A-AC9F-4CAF7B1DB8E1}" type="presParOf" srcId="{E29C3E53-05C5-4904-949A-ECC2A4CB8B08}" destId="{7287853D-386A-4BC8-B767-DB2417CCF9F3}" srcOrd="2" destOrd="0" presId="urn:microsoft.com/office/officeart/2018/2/layout/IconCircleList"/>
    <dgm:cxn modelId="{5A1F73FC-1A19-4EB5-906A-2174954CEE97}" type="presParOf" srcId="{E29C3E53-05C5-4904-949A-ECC2A4CB8B08}" destId="{7C0D4E56-2492-4586-B178-A45CC40A8C78}" srcOrd="3" destOrd="0" presId="urn:microsoft.com/office/officeart/2018/2/layout/IconCircleList"/>
    <dgm:cxn modelId="{6DF1D97D-9037-4294-9415-FBF9BE5B7108}" type="presParOf" srcId="{6F23FDC9-927C-4264-AC9C-ED368F8087F2}" destId="{83569BDA-9361-4CE3-80CF-09ED279137E0}" srcOrd="3" destOrd="0" presId="urn:microsoft.com/office/officeart/2018/2/layout/IconCircleList"/>
    <dgm:cxn modelId="{22F86B7B-79D4-40C1-98FA-190F3B6BD3E4}" type="presParOf" srcId="{6F23FDC9-927C-4264-AC9C-ED368F8087F2}" destId="{7D01E238-2FEF-437F-8A3D-32221654F2A2}" srcOrd="4" destOrd="0" presId="urn:microsoft.com/office/officeart/2018/2/layout/IconCircleList"/>
    <dgm:cxn modelId="{693338AE-4CCC-4C22-8B7F-A57E88A66AAB}" type="presParOf" srcId="{7D01E238-2FEF-437F-8A3D-32221654F2A2}" destId="{5E90D182-173F-4D03-8BAE-98F7B49890F6}" srcOrd="0" destOrd="0" presId="urn:microsoft.com/office/officeart/2018/2/layout/IconCircleList"/>
    <dgm:cxn modelId="{F0A7671D-F3C0-4C74-972C-24ABE73A1F61}" type="presParOf" srcId="{7D01E238-2FEF-437F-8A3D-32221654F2A2}" destId="{F39372C2-55AA-4461-894A-4DE10815BCFD}" srcOrd="1" destOrd="0" presId="urn:microsoft.com/office/officeart/2018/2/layout/IconCircleList"/>
    <dgm:cxn modelId="{812B4070-DE45-474F-9178-1E06A0DAD325}" type="presParOf" srcId="{7D01E238-2FEF-437F-8A3D-32221654F2A2}" destId="{F775227E-14E2-41A7-B32A-8C5144F3CE78}" srcOrd="2" destOrd="0" presId="urn:microsoft.com/office/officeart/2018/2/layout/IconCircleList"/>
    <dgm:cxn modelId="{71BA7731-8BDA-47AF-A955-3B7FECB976D7}" type="presParOf" srcId="{7D01E238-2FEF-437F-8A3D-32221654F2A2}" destId="{AC9CE43E-2CE7-4600-8E87-AEDB9D9DEB27}" srcOrd="3" destOrd="0" presId="urn:microsoft.com/office/officeart/2018/2/layout/IconCircleList"/>
    <dgm:cxn modelId="{D8A7C861-5C3D-48BC-8893-1A935BB961D1}" type="presParOf" srcId="{6F23FDC9-927C-4264-AC9C-ED368F8087F2}" destId="{429943DB-81C7-4F75-9C99-E7F5ED352141}" srcOrd="5" destOrd="0" presId="urn:microsoft.com/office/officeart/2018/2/layout/IconCircleList"/>
    <dgm:cxn modelId="{955737F6-7C34-49FF-8371-6A919C77E541}" type="presParOf" srcId="{6F23FDC9-927C-4264-AC9C-ED368F8087F2}" destId="{F2800A31-40D1-4B88-AF17-DF2AA5B1105D}" srcOrd="6" destOrd="0" presId="urn:microsoft.com/office/officeart/2018/2/layout/IconCircleList"/>
    <dgm:cxn modelId="{2C8A3490-5182-4953-B005-B759F4B3B459}" type="presParOf" srcId="{F2800A31-40D1-4B88-AF17-DF2AA5B1105D}" destId="{E2D0FBEF-0CF4-4F01-9971-C8889E6FBB96}" srcOrd="0" destOrd="0" presId="urn:microsoft.com/office/officeart/2018/2/layout/IconCircleList"/>
    <dgm:cxn modelId="{24CA3C18-8B34-441A-B476-6A01EAA86719}" type="presParOf" srcId="{F2800A31-40D1-4B88-AF17-DF2AA5B1105D}" destId="{6072CFC5-512B-4EDA-80FC-D0DA877A5CF2}" srcOrd="1" destOrd="0" presId="urn:microsoft.com/office/officeart/2018/2/layout/IconCircleList"/>
    <dgm:cxn modelId="{7614E566-6C5A-40AB-9E71-FDDCFAF77FAF}" type="presParOf" srcId="{F2800A31-40D1-4B88-AF17-DF2AA5B1105D}" destId="{3E327502-F499-4A06-9498-6D19E6D9E3DE}" srcOrd="2" destOrd="0" presId="urn:microsoft.com/office/officeart/2018/2/layout/IconCircleList"/>
    <dgm:cxn modelId="{D58894A1-0CF8-493B-851E-E7D03C53A516}" type="presParOf" srcId="{F2800A31-40D1-4B88-AF17-DF2AA5B1105D}" destId="{C934AA04-B112-4A19-A6F4-3F0E7A247A1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6B90D9-DF40-4B98-8D15-0D0F8B8678FB}">
      <dsp:nvSpPr>
        <dsp:cNvPr id="0" name=""/>
        <dsp:cNvSpPr/>
      </dsp:nvSpPr>
      <dsp:spPr>
        <a:xfrm>
          <a:off x="250377" y="59"/>
          <a:ext cx="3120242" cy="187214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Total Reservations: 9,974</a:t>
          </a:r>
        </a:p>
      </dsp:txBody>
      <dsp:txXfrm>
        <a:off x="250377" y="59"/>
        <a:ext cx="3120242" cy="1872145"/>
      </dsp:txXfrm>
    </dsp:sp>
    <dsp:sp modelId="{B2EFCD5C-20CA-45B8-ACEA-E18913CCFDD5}">
      <dsp:nvSpPr>
        <dsp:cNvPr id="0" name=""/>
        <dsp:cNvSpPr/>
      </dsp:nvSpPr>
      <dsp:spPr>
        <a:xfrm>
          <a:off x="3682644" y="59"/>
          <a:ext cx="3120242" cy="187214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Total Amount (Revenue): 4.08M</a:t>
          </a:r>
        </a:p>
      </dsp:txBody>
      <dsp:txXfrm>
        <a:off x="3682644" y="59"/>
        <a:ext cx="3120242" cy="1872145"/>
      </dsp:txXfrm>
    </dsp:sp>
    <dsp:sp modelId="{31258207-97CE-4B54-A0EA-FB426C97CA2F}">
      <dsp:nvSpPr>
        <dsp:cNvPr id="0" name=""/>
        <dsp:cNvSpPr/>
      </dsp:nvSpPr>
      <dsp:spPr>
        <a:xfrm>
          <a:off x="250377" y="2184229"/>
          <a:ext cx="3120242" cy="187214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Total Guests: 34,761</a:t>
          </a:r>
        </a:p>
      </dsp:txBody>
      <dsp:txXfrm>
        <a:off x="250377" y="2184229"/>
        <a:ext cx="3120242" cy="1872145"/>
      </dsp:txXfrm>
    </dsp:sp>
    <dsp:sp modelId="{FF191CC1-374A-4C7B-AADF-F49FDE4D8643}">
      <dsp:nvSpPr>
        <dsp:cNvPr id="0" name=""/>
        <dsp:cNvSpPr/>
      </dsp:nvSpPr>
      <dsp:spPr>
        <a:xfrm>
          <a:off x="3682644" y="2184229"/>
          <a:ext cx="3120242" cy="187214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These KPIs provide a quick overview of hotel performance.</a:t>
          </a:r>
        </a:p>
      </dsp:txBody>
      <dsp:txXfrm>
        <a:off x="3682644" y="2184229"/>
        <a:ext cx="3120242" cy="18721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79C88D-766A-4EB4-8D14-F688A2A8F588}">
      <dsp:nvSpPr>
        <dsp:cNvPr id="0" name=""/>
        <dsp:cNvSpPr/>
      </dsp:nvSpPr>
      <dsp:spPr>
        <a:xfrm>
          <a:off x="13604" y="334567"/>
          <a:ext cx="1078207" cy="107820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DE639F-3C00-41AE-8915-B161E1576453}">
      <dsp:nvSpPr>
        <dsp:cNvPr id="0" name=""/>
        <dsp:cNvSpPr/>
      </dsp:nvSpPr>
      <dsp:spPr>
        <a:xfrm>
          <a:off x="240027" y="560990"/>
          <a:ext cx="625360" cy="6253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159B01-2F57-404D-96E8-CE0DAC972F59}">
      <dsp:nvSpPr>
        <dsp:cNvPr id="0" name=""/>
        <dsp:cNvSpPr/>
      </dsp:nvSpPr>
      <dsp:spPr>
        <a:xfrm>
          <a:off x="1322856" y="334567"/>
          <a:ext cx="2541489" cy="10782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Line chart shows monthly booking count.</a:t>
          </a:r>
        </a:p>
      </dsp:txBody>
      <dsp:txXfrm>
        <a:off x="1322856" y="334567"/>
        <a:ext cx="2541489" cy="1078207"/>
      </dsp:txXfrm>
    </dsp:sp>
    <dsp:sp modelId="{1BED9A7F-363D-4894-8EBB-CAE2153A558B}">
      <dsp:nvSpPr>
        <dsp:cNvPr id="0" name=""/>
        <dsp:cNvSpPr/>
      </dsp:nvSpPr>
      <dsp:spPr>
        <a:xfrm>
          <a:off x="4307181" y="334567"/>
          <a:ext cx="1078207" cy="107820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6215B5-6F93-4915-A27C-D343C5E66611}">
      <dsp:nvSpPr>
        <dsp:cNvPr id="0" name=""/>
        <dsp:cNvSpPr/>
      </dsp:nvSpPr>
      <dsp:spPr>
        <a:xfrm>
          <a:off x="4533605" y="560990"/>
          <a:ext cx="625360" cy="6253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0D4E56-2492-4586-B178-A45CC40A8C78}">
      <dsp:nvSpPr>
        <dsp:cNvPr id="0" name=""/>
        <dsp:cNvSpPr/>
      </dsp:nvSpPr>
      <dsp:spPr>
        <a:xfrm>
          <a:off x="5616434" y="334567"/>
          <a:ext cx="2541489" cy="10782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Bookings remain consistent throughout the year.</a:t>
          </a:r>
        </a:p>
      </dsp:txBody>
      <dsp:txXfrm>
        <a:off x="5616434" y="334567"/>
        <a:ext cx="2541489" cy="1078207"/>
      </dsp:txXfrm>
    </dsp:sp>
    <dsp:sp modelId="{5E90D182-173F-4D03-8BAE-98F7B49890F6}">
      <dsp:nvSpPr>
        <dsp:cNvPr id="0" name=""/>
        <dsp:cNvSpPr/>
      </dsp:nvSpPr>
      <dsp:spPr>
        <a:xfrm>
          <a:off x="13604" y="1991502"/>
          <a:ext cx="1078207" cy="107820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9372C2-55AA-4461-894A-4DE10815BCFD}">
      <dsp:nvSpPr>
        <dsp:cNvPr id="0" name=""/>
        <dsp:cNvSpPr/>
      </dsp:nvSpPr>
      <dsp:spPr>
        <a:xfrm>
          <a:off x="240027" y="2217925"/>
          <a:ext cx="625360" cy="6253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9CE43E-2CE7-4600-8E87-AEDB9D9DEB27}">
      <dsp:nvSpPr>
        <dsp:cNvPr id="0" name=""/>
        <dsp:cNvSpPr/>
      </dsp:nvSpPr>
      <dsp:spPr>
        <a:xfrm>
          <a:off x="1322856" y="1991502"/>
          <a:ext cx="2541489" cy="10782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Slight peaks observed in mid and end months.</a:t>
          </a:r>
        </a:p>
      </dsp:txBody>
      <dsp:txXfrm>
        <a:off x="1322856" y="1991502"/>
        <a:ext cx="2541489" cy="1078207"/>
      </dsp:txXfrm>
    </dsp:sp>
    <dsp:sp modelId="{E2D0FBEF-0CF4-4F01-9971-C8889E6FBB96}">
      <dsp:nvSpPr>
        <dsp:cNvPr id="0" name=""/>
        <dsp:cNvSpPr/>
      </dsp:nvSpPr>
      <dsp:spPr>
        <a:xfrm>
          <a:off x="4307181" y="1991502"/>
          <a:ext cx="1078207" cy="107820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72CFC5-512B-4EDA-80FC-D0DA877A5CF2}">
      <dsp:nvSpPr>
        <dsp:cNvPr id="0" name=""/>
        <dsp:cNvSpPr/>
      </dsp:nvSpPr>
      <dsp:spPr>
        <a:xfrm>
          <a:off x="4533605" y="2217925"/>
          <a:ext cx="625360" cy="62536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34AA04-B112-4A19-A6F4-3F0E7A247A17}">
      <dsp:nvSpPr>
        <dsp:cNvPr id="0" name=""/>
        <dsp:cNvSpPr/>
      </dsp:nvSpPr>
      <dsp:spPr>
        <a:xfrm>
          <a:off x="5616434" y="1991502"/>
          <a:ext cx="2541489" cy="10782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Helps identify seasonal demand patterns.</a:t>
          </a:r>
        </a:p>
      </dsp:txBody>
      <dsp:txXfrm>
        <a:off x="5616434" y="1991502"/>
        <a:ext cx="2541489" cy="10782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024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353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819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546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981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735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103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276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759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633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0844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001611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3135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5717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1939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295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2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8285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4322390-8B58-46BE-88EB-D9FD30C08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Hotel bell">
            <a:extLst>
              <a:ext uri="{FF2B5EF4-FFF2-40B4-BE49-F238E27FC236}">
                <a16:creationId xmlns:a16="http://schemas.microsoft.com/office/drawing/2014/main" id="{E9D0C8AC-462D-E96D-F905-444560BE412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11000" r="-1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447800"/>
            <a:ext cx="6619243" cy="3329581"/>
          </a:xfrm>
        </p:spPr>
        <p:txBody>
          <a:bodyPr>
            <a:normAutofit/>
          </a:bodyPr>
          <a:lstStyle/>
          <a:p>
            <a:r>
              <a:rPr lang="en-IN" sz="61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HOTEL RESERVATIONS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4777380"/>
            <a:ext cx="6619243" cy="861420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NIHA RAHIM</a:t>
            </a:r>
          </a:p>
          <a:p>
            <a:r>
              <a:rPr lang="en-I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9986" y="629266"/>
            <a:ext cx="4007403" cy="1641986"/>
          </a:xfrm>
        </p:spPr>
        <p:txBody>
          <a:bodyPr>
            <a:normAutofit/>
          </a:bodyPr>
          <a:lstStyle/>
          <a:p>
            <a:r>
              <a:rPr lang="en-IN" u="sng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2BF79778-29CD-863F-2A6D-070E1E7C83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159" r="29873"/>
          <a:stretch>
            <a:fillRect/>
          </a:stretch>
        </p:blipFill>
        <p:spPr>
          <a:xfrm>
            <a:off x="20" y="10"/>
            <a:ext cx="3044191" cy="685799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29986" y="2438400"/>
            <a:ext cx="4007403" cy="3809999"/>
          </a:xfrm>
        </p:spPr>
        <p:txBody>
          <a:bodyPr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This dashboard analyzes hotel reservation data using Tableau.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Tracks total reservations, guests, and revenue.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Analyzes booking trends by month.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Compares performance by room type.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Examines reservations by nationality.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583" y="452718"/>
            <a:ext cx="7053542" cy="1400530"/>
          </a:xfrm>
        </p:spPr>
        <p:txBody>
          <a:bodyPr>
            <a:normAutofit/>
          </a:bodyPr>
          <a:lstStyle/>
          <a:p>
            <a:r>
              <a:rPr lang="en-IN" u="sng"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Indicators (KPIs)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C138E33-2150-4240-4E1E-1A7F0EDEAC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7972447"/>
              </p:ext>
            </p:extLst>
          </p:nvPr>
        </p:nvGraphicFramePr>
        <p:xfrm>
          <a:off x="484583" y="2140085"/>
          <a:ext cx="7053264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r>
              <a:rPr lang="en-IN" sz="3900" u="sng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MONTHLY BOOKING TREND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1DF563C1-A3FB-E6B9-D2B4-63BD5E99B3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9192042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6"/>
            <a:ext cx="4641143" cy="1622321"/>
          </a:xfrm>
        </p:spPr>
        <p:txBody>
          <a:bodyPr>
            <a:normAutofit/>
          </a:bodyPr>
          <a:lstStyle/>
          <a:p>
            <a:r>
              <a:rPr lang="en-IN" u="sng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ROOM TYPE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697" y="2438400"/>
            <a:ext cx="4641142" cy="3785419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Deluxe rooms have the highest number of guests.</a:t>
            </a:r>
          </a:p>
          <a:p>
            <a:r>
              <a:rPr lang="en-US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Suite rooms generate the highest revenue.</a:t>
            </a:r>
          </a:p>
          <a:p>
            <a:r>
              <a:rPr lang="en-US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Standard rooms show moderate performance.</a:t>
            </a:r>
          </a:p>
          <a:p>
            <a:pPr marL="0" indent="0">
              <a:buNone/>
            </a:pPr>
            <a:endParaRPr lang="en-US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Room type comparison helps optimize pricing and availability.</a:t>
            </a: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61980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ide view of a bed with side table and on it is an alarm clock and a white lamp">
            <a:extLst>
              <a:ext uri="{FF2B5EF4-FFF2-40B4-BE49-F238E27FC236}">
                <a16:creationId xmlns:a16="http://schemas.microsoft.com/office/drawing/2014/main" id="{10E02A7E-B9B0-67D4-16B1-915888355E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017" r="6751" b="-2"/>
          <a:stretch>
            <a:fillRect/>
          </a:stretch>
        </p:blipFill>
        <p:spPr>
          <a:xfrm>
            <a:off x="5421881" y="1"/>
            <a:ext cx="3722434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3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484" y="452718"/>
            <a:ext cx="6710641" cy="1400530"/>
          </a:xfrm>
        </p:spPr>
        <p:txBody>
          <a:bodyPr anchor="ctr">
            <a:normAutofit/>
          </a:bodyPr>
          <a:lstStyle/>
          <a:p>
            <a:r>
              <a:rPr lang="en-IN" u="sng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NATIONALITY &amp; ROOM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484" y="2763520"/>
            <a:ext cx="6709905" cy="348487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United States contributes the highest reservations.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Followed by Bulgaria, Italy, Romania, and Serbia.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Pie chart shows room type distribution (Deluxe, Standard, Suite).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understand customer demographics and preferences.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8001" y="629266"/>
            <a:ext cx="5121384" cy="1641986"/>
          </a:xfrm>
        </p:spPr>
        <p:txBody>
          <a:bodyPr>
            <a:normAutofit/>
          </a:bodyPr>
          <a:lstStyle/>
          <a:p>
            <a:r>
              <a:rPr lang="en-IN" u="sng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5" name="Picture 4" descr="Pen placed on top of a signature line">
            <a:extLst>
              <a:ext uri="{FF2B5EF4-FFF2-40B4-BE49-F238E27FC236}">
                <a16:creationId xmlns:a16="http://schemas.microsoft.com/office/drawing/2014/main" id="{A54FB2A1-4ED4-0A0B-5AFC-964386FDCC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132" r="10238" b="-1"/>
          <a:stretch>
            <a:fillRect/>
          </a:stretch>
        </p:blipFill>
        <p:spPr>
          <a:xfrm>
            <a:off x="6101895" y="10"/>
            <a:ext cx="3044211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4701A01-E306-48FB-A661-2335BB38BA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001" y="2438400"/>
            <a:ext cx="5121384" cy="3809999"/>
          </a:xfrm>
        </p:spPr>
        <p:txBody>
          <a:bodyPr>
            <a:normAutofit/>
          </a:bodyPr>
          <a:lstStyle/>
          <a:p>
            <a:r>
              <a:rPr lang="en-US"/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Hotel maintains strong booking performance.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Revenue generated is over 4 million.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Suite rooms generate higher revenue per booking.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International guests form a major customer base.</a:t>
            </a: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This Tableau dashboard supports strategic decision-making.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6A222EB-A81E-4238-B08D-AAB1828C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14676C-074B-475A-8346-9C901C86C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79C4C8E-197B-4679-AE96-B5147F971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67515" y="1930986"/>
            <a:ext cx="0" cy="3200400"/>
          </a:xfrm>
          <a:prstGeom prst="line">
            <a:avLst/>
          </a:prstGeom>
          <a:ln w="15875" cap="sq">
            <a:solidFill>
              <a:schemeClr val="tx2">
                <a:alpha val="7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3D67464-7173-7A88-C42C-95DF3FF2E5CD}"/>
              </a:ext>
            </a:extLst>
          </p:cNvPr>
          <p:cNvSpPr txBox="1"/>
          <p:nvPr/>
        </p:nvSpPr>
        <p:spPr>
          <a:xfrm>
            <a:off x="3267515" y="1281188"/>
            <a:ext cx="5569233" cy="4528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7200" b="0" i="0" kern="1200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13188847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22</TotalTime>
  <Words>235</Words>
  <Application>Microsoft Office PowerPoint</Application>
  <PresentationFormat>On-screen Show (4:3)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Century Gothic</vt:lpstr>
      <vt:lpstr>Times New Roman</vt:lpstr>
      <vt:lpstr>Wingdings</vt:lpstr>
      <vt:lpstr>Wingdings 3</vt:lpstr>
      <vt:lpstr>Ion</vt:lpstr>
      <vt:lpstr>HOTEL RESERVATIONS DASHBOARD</vt:lpstr>
      <vt:lpstr>PROJECT OVERVIEW</vt:lpstr>
      <vt:lpstr>Key Performance Indicators (KPIs)</vt:lpstr>
      <vt:lpstr>MONTHLY BOOKING TREND</vt:lpstr>
      <vt:lpstr>ROOM TYPE ANALYSIS</vt:lpstr>
      <vt:lpstr>NATIONALITY &amp; ROOM DISTRIBUTIONS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Sheba Elizabeth John</cp:lastModifiedBy>
  <cp:revision>4</cp:revision>
  <dcterms:created xsi:type="dcterms:W3CDTF">2013-01-27T09:14:16Z</dcterms:created>
  <dcterms:modified xsi:type="dcterms:W3CDTF">2026-03-06T04:31:03Z</dcterms:modified>
  <cp:category/>
</cp:coreProperties>
</file>